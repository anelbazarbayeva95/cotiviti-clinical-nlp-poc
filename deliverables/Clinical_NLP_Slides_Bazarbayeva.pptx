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640080"/>
            <a:ext cx="1371600" cy="1371600"/>
          </a:xfrm>
          <a:prstGeom prst="ellipse">
            <a:avLst/>
          </a:prstGeom>
          <a:solidFill>
            <a:srgbClr val="382F6E"/>
          </a:solidFill>
          <a:ln/>
        </p:spPr>
      </p:sp>
      <p:pic>
        <p:nvPicPr>
          <p:cNvPr id="3" name="Image 0" descr="/workspace/cotiviti-clinical-nlp-poc/deliverables/build/icons/l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4744" y="832104"/>
            <a:ext cx="987552" cy="9875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37360"/>
            <a:ext cx="105156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Natural Language</a:t>
            </a:r>
            <a:endParaRPr lang="en-US" sz="3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for Health Care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3703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Past, Present, and Future Approaches — NLP, OCR, Computer Vision, LLM, LMM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Anel Bazarbayeva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 — Generative AI Research Engineer  |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Clinical NLP?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methods that turn unstructured health care information — clinician notes, faxed records, scanned forms, imaging reports — into a form software can act on. Cotiviti's payment-integrity work depends directly on reading exactly this kind of material.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1188720" cy="1188720"/>
          </a:xfrm>
          <a:prstGeom prst="ellipse">
            <a:avLst/>
          </a:prstGeom>
          <a:solidFill>
            <a:srgbClr val="241E4E"/>
          </a:solidFill>
          <a:ln/>
        </p:spPr>
      </p:sp>
      <p:pic>
        <p:nvPicPr>
          <p:cNvPr id="5" name="Image 0" descr="/workspace/cotiviti-clinical-nlp-poc/deliverables/build/icons/n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772461"/>
            <a:ext cx="855878" cy="8558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4370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free text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035808" y="2606040"/>
            <a:ext cx="1188720" cy="118872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9" name="Image 1" descr="/workspace/cotiviti-clinical-nlp-poc/deliverables/build/icons/oc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229" y="2772461"/>
            <a:ext cx="855878" cy="85587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15768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715768" y="4370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Digitizing scans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248656" y="2606040"/>
            <a:ext cx="1188720" cy="1188720"/>
          </a:xfrm>
          <a:prstGeom prst="ellipse">
            <a:avLst/>
          </a:prstGeom>
          <a:solidFill>
            <a:srgbClr val="241E4E"/>
          </a:solidFill>
          <a:ln/>
        </p:spPr>
      </p:sp>
      <p:pic>
        <p:nvPicPr>
          <p:cNvPr id="13" name="Image 2" descr="/workspace/cotiviti-clinical-nlp-poc/deliverables/build/icons/c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077" y="2772461"/>
            <a:ext cx="855878" cy="85587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28616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928616" y="4370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images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461504" y="2606040"/>
            <a:ext cx="1188720" cy="118872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7" name="Image 3" descr="/workspace/cotiviti-clinical-nlp-poc/deliverables/build/icons/ll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925" y="2772461"/>
            <a:ext cx="855878" cy="8558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41464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141464" y="4370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summary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9674352" y="2606040"/>
            <a:ext cx="1188720" cy="1188720"/>
          </a:xfrm>
          <a:prstGeom prst="ellipse">
            <a:avLst/>
          </a:prstGeom>
          <a:solidFill>
            <a:srgbClr val="241E4E"/>
          </a:solidFill>
          <a:ln/>
        </p:spPr>
      </p:sp>
      <p:pic>
        <p:nvPicPr>
          <p:cNvPr id="21" name="Image 4" descr="/workspace/cotiviti-clinical-nlp-poc/deliverables/build/icons/lm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0773" y="2772461"/>
            <a:ext cx="855878" cy="85587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354312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LMM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9354312" y="4370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reasoning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822960" y="53492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healthcare informatics company processing high volumes of TPO content, the maturity of these technologies determines how much can be structured and acted on without manual review.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  |  Anel Bazarbayeva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Trends: Past, Present, and Future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11880" cy="48463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D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45920"/>
            <a:ext cx="822960" cy="822960"/>
          </a:xfrm>
          <a:prstGeom prst="ellipse">
            <a:avLst/>
          </a:prstGeom>
          <a:solidFill>
            <a:srgbClr val="594E8A"/>
          </a:solidFill>
          <a:ln/>
        </p:spPr>
      </p:sp>
      <p:pic>
        <p:nvPicPr>
          <p:cNvPr id="5" name="Image 0" descr="/workspace/cotiviti-clinical-nlp-poc/deliverables/build/icons/d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761134"/>
            <a:ext cx="592531" cy="5925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6916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4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269748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pattern matching &amp; curated dictionaries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models (CRFs) — one hand-built pipeline per use case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on scanned/handwritten forms was separate &amp; brittle (Rasmussen et al., 2012)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325880"/>
            <a:ext cx="3611880" cy="48463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D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645920"/>
            <a:ext cx="822960" cy="822960"/>
          </a:xfrm>
          <a:prstGeom prst="ellipse">
            <a:avLst/>
          </a:prstGeom>
          <a:solidFill>
            <a:srgbClr val="241E4E"/>
          </a:solidFill>
          <a:ln/>
        </p:spPr>
      </p:sp>
      <p:pic>
        <p:nvPicPr>
          <p:cNvPr id="10" name="Image 1" descr="/workspace/cotiviti-clinical-nlp-poc/deliverables/build/icons/ll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374" y="1761134"/>
            <a:ext cx="592531" cy="5925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5000" y="16916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709160" y="269748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Domain-pretrained models: BioBERT, ClinicalBERT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LLMs pass medical licensing benchmarks (Singhal et al., 2023)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+ structured schema replaces a custom pipeline — this POC's approach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0" y="1325880"/>
            <a:ext cx="3611880" cy="48463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D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49640" y="1645920"/>
            <a:ext cx="822960" cy="82296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5" name="Image 2" descr="/workspace/cotiviti-clinical-nlp-poc/deliverables/build/icons/lm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54" y="1761134"/>
            <a:ext cx="592531" cy="59253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55480" y="16916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3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549640" y="269748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models (Med-PaLM M) reason over text + imaging + genomics jointly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pipeline instead of parallel OCR / NLP / CV systems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  |  Anel Bazarbayeva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and Threats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846320"/>
          </a:xfrm>
          <a:prstGeom prst="roundRect">
            <a:avLst>
              <a:gd name="adj" fmla="val 2264"/>
            </a:avLst>
          </a:prstGeom>
          <a:solidFill>
            <a:srgbClr val="E4F3E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777240" cy="777240"/>
          </a:xfrm>
          <a:prstGeom prst="ellipse">
            <a:avLst/>
          </a:prstGeom>
          <a:solidFill>
            <a:srgbClr val="1B7A5A"/>
          </a:solidFill>
          <a:ln/>
        </p:spPr>
      </p:sp>
      <p:pic>
        <p:nvPicPr>
          <p:cNvPr id="5" name="Image 0" descr="/workspace/cotiviti-clinical-nlp-poc/deliverables/build/icons/opportun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1846174"/>
            <a:ext cx="559613" cy="559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5564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274320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resilient to noisy OCR text than rule-based pipelines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bespoke NER model to train per document type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abstraction burden on TPO reviewers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3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time savings already seen in ambient scribes (Aguilar, 2026)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46520" y="1371600"/>
            <a:ext cx="5349240" cy="4846320"/>
          </a:xfrm>
          <a:prstGeom prst="roundRect">
            <a:avLst>
              <a:gd name="adj" fmla="val 2264"/>
            </a:avLst>
          </a:prstGeom>
          <a:solidFill>
            <a:srgbClr val="FBEAF2"/>
          </a:solidFill>
          <a:ln/>
        </p:spPr>
      </p:sp>
      <p:sp>
        <p:nvSpPr>
          <p:cNvPr id="9" name="Shape 6"/>
          <p:cNvSpPr/>
          <p:nvPr/>
        </p:nvSpPr>
        <p:spPr>
          <a:xfrm>
            <a:off x="6812280" y="1737360"/>
            <a:ext cx="777240" cy="77724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0" name="Image 1" descr="/workspace/cotiviti-clinical-nlp-poc/deliverables/build/icons/thr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094" y="1846174"/>
            <a:ext cx="559613" cy="5596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26680" y="175564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3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812280" y="274320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Hallucination: fabricated details repeated in 50–83% of test cases (Omar et al., 2025)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regulatory exposure: FDA AI/ML SaMD plan, HHS ePHI rules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3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risk when models train on cost/utilization proxies (Obermeyer et al., 2019)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  |  Anel Bazarbayeva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Options for Cotiviti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05940"/>
            <a:ext cx="822960" cy="822960"/>
          </a:xfrm>
          <a:prstGeom prst="ellipse">
            <a:avLst/>
          </a:prstGeom>
          <a:solidFill>
            <a:srgbClr val="241E4E"/>
          </a:solidFill>
          <a:ln/>
        </p:spPr>
      </p:sp>
      <p:pic>
        <p:nvPicPr>
          <p:cNvPr id="5" name="Image 0" descr="/workspace/cotiviti-clinical-nlp-poc/deliverables/build/icons/pi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1921154"/>
            <a:ext cx="592531" cy="5925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58191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Pilot a governed extraction service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965960" y="2075688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OCR-plus-LLM pattern in this POC to a real, high-volume input Cotiviti already receives, scoped narrowly with a human reviewer in the loop.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F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3543300"/>
            <a:ext cx="822960" cy="82296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0" name="Image 1" descr="/workspace/cotiviti-clinical-nlp-poc/deliverables/build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3658514"/>
            <a:ext cx="592531" cy="5925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331927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Build the AI governance layer first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965960" y="3813048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spot-checks, bias audits, and a change-control process aligned to FDA SaMD and HHS ePHI expectations — before scaling, not after.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89204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F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14400" y="5280660"/>
            <a:ext cx="822960" cy="822960"/>
          </a:xfrm>
          <a:prstGeom prst="ellipse">
            <a:avLst/>
          </a:prstGeom>
          <a:solidFill>
            <a:srgbClr val="241E4E"/>
          </a:solidFill>
          <a:ln/>
        </p:spPr>
      </p:sp>
      <p:pic>
        <p:nvPicPr>
          <p:cNvPr id="15" name="Image 2" descr="/workspace/cotiviti-clinical-nlp-poc/deliverables/build/icons/ra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5395874"/>
            <a:ext cx="592531" cy="59253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505663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Track multimodal models as a medium-term bet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965960" y="5550408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Med-PaLM-M-style systems as a path to a single text-plus-image TPO review pipeline over the next 2–3 years.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  |  Anel Bazarbayeva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Concept: 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minimal, working pipeline demonstrating the “present” pattern from the trends analysis: OCR handles the historical digitization problem, then a single Claude tool-use call does the structuring work that used to require a purpose-built NER pipeline.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88720" y="2834640"/>
            <a:ext cx="1371600" cy="1371600"/>
          </a:xfrm>
          <a:prstGeom prst="ellipse">
            <a:avLst/>
          </a:prstGeom>
          <a:solidFill>
            <a:srgbClr val="594E8A"/>
          </a:solidFill>
          <a:ln/>
        </p:spPr>
      </p:sp>
      <p:pic>
        <p:nvPicPr>
          <p:cNvPr id="5" name="Image 0" descr="/workspace/cotiviti-clinical-nlp-poc/deliverables/build/icons/d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3026664"/>
            <a:ext cx="987552" cy="9875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343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note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697480" y="3200400"/>
            <a:ext cx="640080" cy="640080"/>
          </a:xfrm>
          <a:prstGeom prst="ellipse">
            <a:avLst/>
          </a:prstGeom>
          <a:solidFill>
            <a:srgbClr val="6B6580"/>
          </a:solidFill>
          <a:ln/>
        </p:spPr>
      </p:sp>
      <p:pic>
        <p:nvPicPr>
          <p:cNvPr id="8" name="Image 1" descr="/workspace/cotiviti-clinical-nlp-poc/deliverables/build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496" y="3328416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794760" y="2834640"/>
            <a:ext cx="1371600" cy="1371600"/>
          </a:xfrm>
          <a:prstGeom prst="ellipse">
            <a:avLst/>
          </a:prstGeom>
          <a:solidFill>
            <a:srgbClr val="241E4E"/>
          </a:solidFill>
          <a:ln/>
        </p:spPr>
      </p:sp>
      <p:pic>
        <p:nvPicPr>
          <p:cNvPr id="10" name="Image 2" descr="/workspace/cotiviti-clinical-nlp-poc/deliverables/build/icons/oc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3026664"/>
            <a:ext cx="987552" cy="9875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37560" y="4343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(pytesseract)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303520" y="3200400"/>
            <a:ext cx="640080" cy="640080"/>
          </a:xfrm>
          <a:prstGeom prst="ellipse">
            <a:avLst/>
          </a:prstGeom>
          <a:solidFill>
            <a:srgbClr val="6B6580"/>
          </a:solidFill>
          <a:ln/>
        </p:spPr>
      </p:sp>
      <p:pic>
        <p:nvPicPr>
          <p:cNvPr id="13" name="Image 3" descr="/workspace/cotiviti-clinical-nlp-poc/deliverables/build/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3328416"/>
            <a:ext cx="384048" cy="38404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400800" y="2834640"/>
            <a:ext cx="1371600" cy="137160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5" name="Image 4" descr="/workspace/cotiviti-clinical-nlp-poc/deliverables/build/icons/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3026664"/>
            <a:ext cx="987552" cy="9875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43600" y="4343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tool-use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7909560" y="3200400"/>
            <a:ext cx="640080" cy="640080"/>
          </a:xfrm>
          <a:prstGeom prst="ellipse">
            <a:avLst/>
          </a:prstGeom>
          <a:solidFill>
            <a:srgbClr val="6B6580"/>
          </a:solidFill>
          <a:ln/>
        </p:spPr>
      </p:sp>
      <p:pic>
        <p:nvPicPr>
          <p:cNvPr id="18" name="Image 5" descr="/workspace/cotiviti-clinical-nlp-poc/deliverables/build/icons/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7576" y="3328416"/>
            <a:ext cx="384048" cy="38404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006840" y="2834640"/>
            <a:ext cx="1371600" cy="1371600"/>
          </a:xfrm>
          <a:prstGeom prst="ellipse">
            <a:avLst/>
          </a:prstGeom>
          <a:solidFill>
            <a:srgbClr val="241E4E"/>
          </a:solidFill>
          <a:ln/>
        </p:spPr>
      </p:sp>
      <p:pic>
        <p:nvPicPr>
          <p:cNvPr id="20" name="Image 6" descr="/workspace/cotiviti-clinical-nlp-poc/deliverables/build/icons/tab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8864" y="3026664"/>
            <a:ext cx="987552" cy="98755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549640" y="4343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250" dirty="0"/>
          </a:p>
        </p:txBody>
      </p:sp>
      <p:sp>
        <p:nvSpPr>
          <p:cNvPr id="22" name="Text 13"/>
          <p:cNvSpPr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rigor: 4 pytest tests cover the OCR wrapper and the Claude tool-call contract (mocked, no network dependency). Stack: FastAPI, pytesseract, Anthropic Python SDK, vanilla HTML/JS front end — no build step, by design, for a fast “hack.”</a:t>
            </a:r>
            <a:endParaRPr lang="en-US" sz="1300" dirty="0"/>
          </a:p>
        </p:txBody>
      </p:sp>
      <p:sp>
        <p:nvSpPr>
          <p:cNvPr id="23" name="Text 1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  |  Anel Bazarbayeva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Concept: Live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scanned note goes through OCR, then Claude structures it into chief complaint, diagnoses, medications, procedures, and follow-up — no real patient data anywhere in this project.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live: run the demo yourself from the repo README, or watch the accompanying video recording.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06440" y="1051560"/>
            <a:ext cx="585216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9050">
            <a:solidFill>
              <a:srgbClr val="E3DFF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workspace/cotiviti-clinical-nlp-poc/deliverables/build/assets/poc-demo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486400" cy="5074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  |  Anel Bazarbayeva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005840"/>
            <a:ext cx="1371600" cy="1371600"/>
          </a:xfrm>
          <a:prstGeom prst="ellipse">
            <a:avLst/>
          </a:prstGeom>
          <a:solidFill>
            <a:srgbClr val="382F6E"/>
          </a:solidFill>
          <a:ln/>
        </p:spPr>
      </p:sp>
      <p:pic>
        <p:nvPicPr>
          <p:cNvPr id="3" name="Image 0" descr="/workspace/cotiviti-clinical-nlp-poc/deliverables/build/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984" y="1197864"/>
            <a:ext cx="987552" cy="9875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743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report, and this deck are all in the public repository below.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github.com/anelbazarbayeva95/cotiviti-clinical-nlp-poc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Anel Bazarbayeva  |  anelb195@gmail.com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2026-08-05T15:36:53Z</dcterms:created>
  <dcterms:modified xsi:type="dcterms:W3CDTF">2026-08-05T15:36:53Z</dcterms:modified>
</cp:coreProperties>
</file>